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 roundtripDataSignature="AMtx7mgnNZh8W0zSbz7cqslUM7Y9bRN8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7"/>
          <p:cNvSpPr txBox="1"/>
          <p:nvPr>
            <p:ph type="ctrTitle"/>
          </p:nvPr>
        </p:nvSpPr>
        <p:spPr>
          <a:xfrm>
            <a:off x="1547664" y="1779662"/>
            <a:ext cx="7344816" cy="73493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1"/>
              </a:buClr>
              <a:buSzPts val="3600"/>
              <a:buFont typeface="Calibri"/>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 type="subTitle"/>
          </p:nvPr>
        </p:nvSpPr>
        <p:spPr>
          <a:xfrm>
            <a:off x="1547664" y="2514600"/>
            <a:ext cx="7291536"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400"/>
              </a:spcBef>
              <a:spcAft>
                <a:spcPts val="0"/>
              </a:spcAft>
              <a:buClr>
                <a:schemeClr val="dk1"/>
              </a:buClr>
              <a:buSzPts val="2000"/>
              <a:buNone/>
              <a:defRPr sz="2000">
                <a:solidFill>
                  <a:schemeClr val="dk1"/>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17"/>
          <p:cNvSpPr txBox="1"/>
          <p:nvPr>
            <p:ph idx="10" type="dt"/>
          </p:nvPr>
        </p:nvSpPr>
        <p:spPr>
          <a:xfrm>
            <a:off x="914400" y="4993482"/>
            <a:ext cx="2133600" cy="15001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7"/>
          <p:cNvSpPr txBox="1"/>
          <p:nvPr>
            <p:ph idx="11" type="ftr"/>
          </p:nvPr>
        </p:nvSpPr>
        <p:spPr>
          <a:xfrm>
            <a:off x="3162300" y="4993482"/>
            <a:ext cx="3276600" cy="15001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7"/>
          <p:cNvSpPr txBox="1"/>
          <p:nvPr>
            <p:ph idx="12" type="sldNum"/>
          </p:nvPr>
        </p:nvSpPr>
        <p:spPr>
          <a:xfrm>
            <a:off x="6553200" y="4993482"/>
            <a:ext cx="2133600" cy="15001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sr-Latn-R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8"/>
          <p:cNvSpPr txBox="1"/>
          <p:nvPr>
            <p:ph type="title"/>
          </p:nvPr>
        </p:nvSpPr>
        <p:spPr>
          <a:xfrm>
            <a:off x="323528" y="205979"/>
            <a:ext cx="684076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 type="body"/>
          </p:nvPr>
        </p:nvSpPr>
        <p:spPr>
          <a:xfrm>
            <a:off x="323528" y="1200150"/>
            <a:ext cx="8568952" cy="3603847"/>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18"/>
          <p:cNvSpPr txBox="1"/>
          <p:nvPr>
            <p:ph idx="10" type="dt"/>
          </p:nvPr>
        </p:nvSpPr>
        <p:spPr>
          <a:xfrm>
            <a:off x="611560" y="4986704"/>
            <a:ext cx="2284040" cy="1222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1" type="ftr"/>
          </p:nvPr>
        </p:nvSpPr>
        <p:spPr>
          <a:xfrm>
            <a:off x="3086100" y="4977179"/>
            <a:ext cx="3276600" cy="12226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8"/>
          <p:cNvSpPr txBox="1"/>
          <p:nvPr>
            <p:ph idx="12" type="sldNum"/>
          </p:nvPr>
        </p:nvSpPr>
        <p:spPr>
          <a:xfrm>
            <a:off x="6553200" y="4977179"/>
            <a:ext cx="2339280" cy="12226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sr-Latn-R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3" name="Shape 23"/>
        <p:cNvGrpSpPr/>
        <p:nvPr/>
      </p:nvGrpSpPr>
      <p:grpSpPr>
        <a:xfrm>
          <a:off x="0" y="0"/>
          <a:ext cx="0" cy="0"/>
          <a:chOff x="0" y="0"/>
          <a:chExt cx="0" cy="0"/>
        </a:xfrm>
      </p:grpSpPr>
      <p:sp>
        <p:nvSpPr>
          <p:cNvPr id="24" name="Google Shape;24;p19"/>
          <p:cNvSpPr txBox="1"/>
          <p:nvPr>
            <p:ph type="title"/>
          </p:nvPr>
        </p:nvSpPr>
        <p:spPr>
          <a:xfrm>
            <a:off x="323528" y="205979"/>
            <a:ext cx="684076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 type="body"/>
          </p:nvPr>
        </p:nvSpPr>
        <p:spPr>
          <a:xfrm>
            <a:off x="317376" y="1200151"/>
            <a:ext cx="38862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6" name="Google Shape;26;p19"/>
          <p:cNvSpPr txBox="1"/>
          <p:nvPr>
            <p:ph idx="10" type="dt"/>
          </p:nvPr>
        </p:nvSpPr>
        <p:spPr>
          <a:xfrm>
            <a:off x="611560" y="4986704"/>
            <a:ext cx="2284040" cy="1222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1" type="ftr"/>
          </p:nvPr>
        </p:nvSpPr>
        <p:spPr>
          <a:xfrm>
            <a:off x="3086100" y="4977179"/>
            <a:ext cx="3276600" cy="12226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9"/>
          <p:cNvSpPr txBox="1"/>
          <p:nvPr>
            <p:ph idx="12" type="sldNum"/>
          </p:nvPr>
        </p:nvSpPr>
        <p:spPr>
          <a:xfrm>
            <a:off x="6553200" y="4977179"/>
            <a:ext cx="2339280" cy="12226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sr-Latn-RS"/>
              <a:t>‹#›</a:t>
            </a:fld>
            <a:endParaRPr/>
          </a:p>
        </p:txBody>
      </p:sp>
      <p:sp>
        <p:nvSpPr>
          <p:cNvPr id="29" name="Google Shape;29;p19"/>
          <p:cNvSpPr txBox="1"/>
          <p:nvPr>
            <p:ph idx="2" type="body"/>
          </p:nvPr>
        </p:nvSpPr>
        <p:spPr>
          <a:xfrm>
            <a:off x="4355976" y="1200151"/>
            <a:ext cx="38862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
        <p:nvSpPr>
          <p:cNvPr id="31" name="Google Shape;31;p20"/>
          <p:cNvSpPr txBox="1"/>
          <p:nvPr>
            <p:ph idx="10" type="dt"/>
          </p:nvPr>
        </p:nvSpPr>
        <p:spPr>
          <a:xfrm>
            <a:off x="611560" y="4986704"/>
            <a:ext cx="2284040" cy="1222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1" type="ftr"/>
          </p:nvPr>
        </p:nvSpPr>
        <p:spPr>
          <a:xfrm>
            <a:off x="3086100" y="4977179"/>
            <a:ext cx="3276600" cy="12226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2" type="sldNum"/>
          </p:nvPr>
        </p:nvSpPr>
        <p:spPr>
          <a:xfrm>
            <a:off x="6553200" y="4977179"/>
            <a:ext cx="2339280" cy="12226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sr-Latn-R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1"/>
          <p:cNvSpPr txBox="1"/>
          <p:nvPr>
            <p:ph type="title"/>
          </p:nvPr>
        </p:nvSpPr>
        <p:spPr>
          <a:xfrm>
            <a:off x="762001" y="3143251"/>
            <a:ext cx="8077199" cy="1183481"/>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1"/>
          <p:cNvSpPr txBox="1"/>
          <p:nvPr>
            <p:ph idx="1" type="body"/>
          </p:nvPr>
        </p:nvSpPr>
        <p:spPr>
          <a:xfrm>
            <a:off x="762001" y="1943101"/>
            <a:ext cx="8077199" cy="120015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7" name="Google Shape;37;p21"/>
          <p:cNvSpPr txBox="1"/>
          <p:nvPr>
            <p:ph idx="10" type="dt"/>
          </p:nvPr>
        </p:nvSpPr>
        <p:spPr>
          <a:xfrm>
            <a:off x="611560" y="4986704"/>
            <a:ext cx="2284040" cy="1222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3086100" y="4977179"/>
            <a:ext cx="3276600" cy="12226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6553200" y="4977179"/>
            <a:ext cx="2339280" cy="12226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sr-Latn-R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0" name="Shape 40"/>
        <p:cNvGrpSpPr/>
        <p:nvPr/>
      </p:nvGrpSpPr>
      <p:grpSpPr>
        <a:xfrm>
          <a:off x="0" y="0"/>
          <a:ext cx="0" cy="0"/>
          <a:chOff x="0" y="0"/>
          <a:chExt cx="0" cy="0"/>
        </a:xfrm>
      </p:grpSpPr>
      <p:sp>
        <p:nvSpPr>
          <p:cNvPr id="41" name="Google Shape;41;p22"/>
          <p:cNvSpPr txBox="1"/>
          <p:nvPr>
            <p:ph type="title"/>
          </p:nvPr>
        </p:nvSpPr>
        <p:spPr>
          <a:xfrm>
            <a:off x="323528" y="205979"/>
            <a:ext cx="684076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323528" y="1151335"/>
            <a:ext cx="3887788" cy="47982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chemeClr val="dk1"/>
              </a:buClr>
              <a:buSzPts val="2000"/>
              <a:buNone/>
              <a:defRPr b="1" sz="20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323528" y="1631156"/>
            <a:ext cx="38877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2"/>
          <p:cNvSpPr txBox="1"/>
          <p:nvPr>
            <p:ph idx="10" type="dt"/>
          </p:nvPr>
        </p:nvSpPr>
        <p:spPr>
          <a:xfrm>
            <a:off x="611560" y="4986704"/>
            <a:ext cx="2284040" cy="1222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2"/>
          <p:cNvSpPr txBox="1"/>
          <p:nvPr>
            <p:ph idx="11" type="ftr"/>
          </p:nvPr>
        </p:nvSpPr>
        <p:spPr>
          <a:xfrm>
            <a:off x="3086100" y="4977179"/>
            <a:ext cx="3276600" cy="12226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2"/>
          <p:cNvSpPr txBox="1"/>
          <p:nvPr>
            <p:ph idx="12" type="sldNum"/>
          </p:nvPr>
        </p:nvSpPr>
        <p:spPr>
          <a:xfrm>
            <a:off x="6553200" y="4977179"/>
            <a:ext cx="2339280" cy="12226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sr-Latn-RS"/>
              <a:t>‹#›</a:t>
            </a:fld>
            <a:endParaRPr/>
          </a:p>
        </p:txBody>
      </p:sp>
      <p:sp>
        <p:nvSpPr>
          <p:cNvPr id="47" name="Google Shape;47;p22"/>
          <p:cNvSpPr txBox="1"/>
          <p:nvPr>
            <p:ph idx="3" type="body"/>
          </p:nvPr>
        </p:nvSpPr>
        <p:spPr>
          <a:xfrm>
            <a:off x="4363716" y="1151335"/>
            <a:ext cx="3887788" cy="47982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chemeClr val="dk1"/>
              </a:buClr>
              <a:buSzPts val="2000"/>
              <a:buNone/>
              <a:defRPr b="1" sz="20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 name="Google Shape;48;p22"/>
          <p:cNvSpPr txBox="1"/>
          <p:nvPr>
            <p:ph idx="4" type="body"/>
          </p:nvPr>
        </p:nvSpPr>
        <p:spPr>
          <a:xfrm>
            <a:off x="4363716" y="1631156"/>
            <a:ext cx="38877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323528" y="205979"/>
            <a:ext cx="684076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611560" y="4986704"/>
            <a:ext cx="2284040" cy="1222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3086100" y="4977179"/>
            <a:ext cx="3276600" cy="12226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6553200" y="4977179"/>
            <a:ext cx="2339280" cy="12226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sr-Latn-R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323528" y="204787"/>
            <a:ext cx="2819400"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 type="body"/>
          </p:nvPr>
        </p:nvSpPr>
        <p:spPr>
          <a:xfrm>
            <a:off x="3491880" y="987574"/>
            <a:ext cx="5194920" cy="3607049"/>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323528" y="1076326"/>
            <a:ext cx="2819400"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611560" y="4986704"/>
            <a:ext cx="2284040" cy="1222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1" type="ftr"/>
          </p:nvPr>
        </p:nvSpPr>
        <p:spPr>
          <a:xfrm>
            <a:off x="3086100" y="4977179"/>
            <a:ext cx="3276600" cy="12226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2" type="sldNum"/>
          </p:nvPr>
        </p:nvSpPr>
        <p:spPr>
          <a:xfrm>
            <a:off x="6553200" y="4977179"/>
            <a:ext cx="2339280" cy="12226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sr-Latn-R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354330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p:nvPr>
            <p:ph idx="2" type="pic"/>
          </p:nvPr>
        </p:nvSpPr>
        <p:spPr>
          <a:xfrm>
            <a:off x="1792288" y="402431"/>
            <a:ext cx="5486400" cy="3086100"/>
          </a:xfrm>
          <a:prstGeom prst="rect">
            <a:avLst/>
          </a:prstGeom>
          <a:noFill/>
          <a:ln>
            <a:noFill/>
          </a:ln>
        </p:spPr>
      </p:sp>
      <p:sp>
        <p:nvSpPr>
          <p:cNvPr id="64" name="Google Shape;64;p25"/>
          <p:cNvSpPr txBox="1"/>
          <p:nvPr>
            <p:ph idx="1" type="body"/>
          </p:nvPr>
        </p:nvSpPr>
        <p:spPr>
          <a:xfrm>
            <a:off x="1792288" y="3968353"/>
            <a:ext cx="5486400" cy="60364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611560" y="4986704"/>
            <a:ext cx="2284040" cy="1222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5"/>
          <p:cNvSpPr txBox="1"/>
          <p:nvPr>
            <p:ph idx="11" type="ftr"/>
          </p:nvPr>
        </p:nvSpPr>
        <p:spPr>
          <a:xfrm>
            <a:off x="3086100" y="4977179"/>
            <a:ext cx="3276600" cy="12226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2" type="sldNum"/>
          </p:nvPr>
        </p:nvSpPr>
        <p:spPr>
          <a:xfrm>
            <a:off x="6553200" y="4977179"/>
            <a:ext cx="2339280" cy="12226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sr-Latn-R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323528" y="205979"/>
            <a:ext cx="684076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 type="body"/>
          </p:nvPr>
        </p:nvSpPr>
        <p:spPr>
          <a:xfrm rot="5400000">
            <a:off x="2806081" y="-1282403"/>
            <a:ext cx="3603847" cy="856895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611560" y="4986704"/>
            <a:ext cx="2284040" cy="1222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
          <p:cNvSpPr txBox="1"/>
          <p:nvPr>
            <p:ph idx="11" type="ftr"/>
          </p:nvPr>
        </p:nvSpPr>
        <p:spPr>
          <a:xfrm>
            <a:off x="3086100" y="4977179"/>
            <a:ext cx="3276600" cy="12226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2" type="sldNum"/>
          </p:nvPr>
        </p:nvSpPr>
        <p:spPr>
          <a:xfrm>
            <a:off x="6553200" y="4977179"/>
            <a:ext cx="2339280" cy="12226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sr-Latn-R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990554" y="1371601"/>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 type="body"/>
          </p:nvPr>
        </p:nvSpPr>
        <p:spPr>
          <a:xfrm rot="5400000">
            <a:off x="914698" y="-457199"/>
            <a:ext cx="4388644" cy="5715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611560" y="4986704"/>
            <a:ext cx="2284040" cy="1222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1" type="ftr"/>
          </p:nvPr>
        </p:nvSpPr>
        <p:spPr>
          <a:xfrm>
            <a:off x="3086100" y="4977179"/>
            <a:ext cx="3276600" cy="12226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2" type="sldNum"/>
          </p:nvPr>
        </p:nvSpPr>
        <p:spPr>
          <a:xfrm>
            <a:off x="6553200" y="4977179"/>
            <a:ext cx="2339280" cy="12226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sr-Latn-R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323528" y="205979"/>
            <a:ext cx="684076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323528" y="1200150"/>
            <a:ext cx="8568952" cy="3603847"/>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611560" y="4986704"/>
            <a:ext cx="2284040" cy="12226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086100" y="4977179"/>
            <a:ext cx="3276600" cy="12226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1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4977179"/>
            <a:ext cx="2339280" cy="12226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sr-Latn-R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
          <p:cNvSpPr txBox="1"/>
          <p:nvPr>
            <p:ph type="ctrTitle"/>
          </p:nvPr>
        </p:nvSpPr>
        <p:spPr>
          <a:xfrm>
            <a:off x="1061116" y="1903229"/>
            <a:ext cx="7344816" cy="73493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600"/>
              <a:buNone/>
            </a:pPr>
            <a:r>
              <a:rPr lang="sr-Latn-RS" sz="2400"/>
              <a:t>Razvoj Web aplikacije za kulinarskog</a:t>
            </a:r>
            <a:endParaRPr sz="2400"/>
          </a:p>
          <a:p>
            <a:pPr indent="0" lvl="0" marL="0" rtl="0" algn="ctr">
              <a:lnSpc>
                <a:spcPct val="100000"/>
              </a:lnSpc>
              <a:spcBef>
                <a:spcPts val="0"/>
              </a:spcBef>
              <a:spcAft>
                <a:spcPts val="0"/>
              </a:spcAft>
              <a:buSzPts val="3600"/>
              <a:buNone/>
            </a:pPr>
            <a:r>
              <a:rPr lang="sr-Latn-RS" sz="2400"/>
              <a:t>asistenta primenom Core PHP skript jezika</a:t>
            </a:r>
            <a:endParaRPr sz="2400"/>
          </a:p>
        </p:txBody>
      </p:sp>
      <p:sp>
        <p:nvSpPr>
          <p:cNvPr id="85" name="Google Shape;85;p1"/>
          <p:cNvSpPr txBox="1"/>
          <p:nvPr>
            <p:ph idx="1" type="subTitle"/>
          </p:nvPr>
        </p:nvSpPr>
        <p:spPr>
          <a:xfrm>
            <a:off x="922103" y="1356154"/>
            <a:ext cx="7291536" cy="342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2000"/>
              <a:buNone/>
            </a:pPr>
            <a:r>
              <a:rPr b="1" lang="sr-Latn-RS" sz="1800"/>
              <a:t>Završni rad</a:t>
            </a:r>
            <a:endParaRPr b="1" sz="1800"/>
          </a:p>
        </p:txBody>
      </p:sp>
      <p:sp>
        <p:nvSpPr>
          <p:cNvPr id="86" name="Google Shape;86;p1"/>
          <p:cNvSpPr txBox="1"/>
          <p:nvPr/>
        </p:nvSpPr>
        <p:spPr>
          <a:xfrm>
            <a:off x="425567" y="3662078"/>
            <a:ext cx="2701589"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sr-Latn-RS" sz="1400" u="none" cap="none" strike="noStrike">
                <a:solidFill>
                  <a:srgbClr val="000000"/>
                </a:solidFill>
                <a:latin typeface="Arial"/>
                <a:ea typeface="Arial"/>
                <a:cs typeface="Arial"/>
                <a:sym typeface="Arial"/>
              </a:rPr>
              <a:t>Mentor:</a:t>
            </a:r>
            <a:endParaRPr/>
          </a:p>
          <a:p>
            <a:pPr indent="0" lvl="0" marL="0" marR="0" rtl="0" algn="l">
              <a:lnSpc>
                <a:spcPct val="100000"/>
              </a:lnSpc>
              <a:spcBef>
                <a:spcPts val="0"/>
              </a:spcBef>
              <a:spcAft>
                <a:spcPts val="0"/>
              </a:spcAft>
              <a:buNone/>
            </a:pPr>
            <a:r>
              <a:rPr b="0" i="0" lang="sr-Latn-RS" sz="1400" u="none" cap="none" strike="noStrike">
                <a:solidFill>
                  <a:srgbClr val="000000"/>
                </a:solidFill>
                <a:latin typeface="Arial"/>
                <a:ea typeface="Arial"/>
                <a:cs typeface="Arial"/>
                <a:sym typeface="Arial"/>
              </a:rPr>
              <a:t>dr Aleksandar Simović</a:t>
            </a:r>
            <a:endParaRPr/>
          </a:p>
          <a:p>
            <a:pPr indent="0" lvl="0" marL="0" marR="0" rtl="0" algn="l">
              <a:lnSpc>
                <a:spcPct val="100000"/>
              </a:lnSpc>
              <a:spcBef>
                <a:spcPts val="0"/>
              </a:spcBef>
              <a:spcAft>
                <a:spcPts val="0"/>
              </a:spcAft>
              <a:buNone/>
            </a:pPr>
            <a:r>
              <a:rPr b="0" i="0" lang="sr-Latn-RS" sz="1400" u="none" cap="none" strike="noStrike">
                <a:solidFill>
                  <a:srgbClr val="000000"/>
                </a:solidFill>
                <a:latin typeface="Arial"/>
                <a:ea typeface="Arial"/>
                <a:cs typeface="Arial"/>
                <a:sym typeface="Arial"/>
              </a:rPr>
              <a:t>profesor strukovnih studija</a:t>
            </a:r>
            <a:endParaRPr/>
          </a:p>
        </p:txBody>
      </p:sp>
      <p:sp>
        <p:nvSpPr>
          <p:cNvPr id="87" name="Google Shape;87;p1"/>
          <p:cNvSpPr txBox="1"/>
          <p:nvPr/>
        </p:nvSpPr>
        <p:spPr>
          <a:xfrm>
            <a:off x="6812942" y="3664384"/>
            <a:ext cx="19654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sr-Latn-RS" sz="1400" u="none" cap="none" strike="noStrike">
                <a:solidFill>
                  <a:srgbClr val="000000"/>
                </a:solidFill>
                <a:latin typeface="Arial"/>
                <a:ea typeface="Arial"/>
                <a:cs typeface="Arial"/>
                <a:sym typeface="Arial"/>
              </a:rPr>
              <a:t>Student:</a:t>
            </a:r>
            <a:endParaRPr/>
          </a:p>
          <a:p>
            <a:pPr indent="0" lvl="0" marL="0" marR="0" rtl="0" algn="l">
              <a:lnSpc>
                <a:spcPct val="100000"/>
              </a:lnSpc>
              <a:spcBef>
                <a:spcPts val="0"/>
              </a:spcBef>
              <a:spcAft>
                <a:spcPts val="0"/>
              </a:spcAft>
              <a:buNone/>
            </a:pPr>
            <a:r>
              <a:rPr b="0" i="0" lang="sr-Latn-RS" sz="1400" u="none" cap="none" strike="noStrike">
                <a:solidFill>
                  <a:srgbClr val="000000"/>
                </a:solidFill>
                <a:latin typeface="Arial"/>
                <a:ea typeface="Arial"/>
                <a:cs typeface="Arial"/>
                <a:sym typeface="Arial"/>
              </a:rPr>
              <a:t>Ignjat Milatović 257/22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323528" y="121026"/>
            <a:ext cx="6840760" cy="8572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sr-Latn-RS"/>
              <a:t>Tema rada</a:t>
            </a:r>
            <a:endParaRPr/>
          </a:p>
        </p:txBody>
      </p:sp>
      <p:sp>
        <p:nvSpPr>
          <p:cNvPr id="93" name="Google Shape;93;p2"/>
          <p:cNvSpPr txBox="1"/>
          <p:nvPr>
            <p:ph idx="1" type="body"/>
          </p:nvPr>
        </p:nvSpPr>
        <p:spPr>
          <a:xfrm>
            <a:off x="323528" y="976184"/>
            <a:ext cx="8568952" cy="3858705"/>
          </a:xfrm>
          <a:prstGeom prst="rect">
            <a:avLst/>
          </a:prstGeom>
          <a:noFill/>
          <a:ln>
            <a:noFill/>
          </a:ln>
        </p:spPr>
        <p:txBody>
          <a:bodyPr anchorCtr="0" anchor="t" bIns="45700" lIns="91425" spcFirstLastPara="1" rIns="91425" wrap="square" tIns="45700">
            <a:noAutofit/>
          </a:bodyPr>
          <a:lstStyle/>
          <a:p>
            <a:pPr indent="0" lvl="0" marL="50800" rtl="0" algn="l">
              <a:lnSpc>
                <a:spcPct val="100000"/>
              </a:lnSpc>
              <a:spcBef>
                <a:spcPts val="360"/>
              </a:spcBef>
              <a:spcAft>
                <a:spcPts val="0"/>
              </a:spcAft>
              <a:buSzPts val="1800"/>
              <a:buNone/>
            </a:pPr>
            <a:r>
              <a:rPr lang="sr-Latn-RS" sz="2000"/>
              <a:t>Razvoj Web aplikacije za upravljanje receptima, sa ciljem da se korisnicima omogući jednostavan unos, pregled i ažuriranje kulinarskih sadržaja.</a:t>
            </a:r>
            <a:endParaRPr/>
          </a:p>
          <a:p>
            <a:pPr indent="0" lvl="0" marL="50800" rtl="0" algn="l">
              <a:lnSpc>
                <a:spcPct val="100000"/>
              </a:lnSpc>
              <a:spcBef>
                <a:spcPts val="360"/>
              </a:spcBef>
              <a:spcAft>
                <a:spcPts val="0"/>
              </a:spcAft>
              <a:buSzPts val="1800"/>
              <a:buNone/>
            </a:pPr>
            <a:r>
              <a:rPr lang="sr-Latn-RS" sz="2000"/>
              <a:t>Aplikacija je korisna za sve koji žele da imaju centralizovano mesto za svoje kulinarske ideje i recepte, bez obzira da li su profesionalni kuvari ili amateri.</a:t>
            </a:r>
            <a:br>
              <a:rPr lang="sr-Latn-RS" sz="2000"/>
            </a:br>
            <a:r>
              <a:rPr lang="sr-Latn-RS" sz="2000"/>
              <a:t> Cilj je bio napraviti praktično rešenje koje omogućava korisnicima da lako organizuju i upravljaju receptima, dok administrator i moderator imaju alate za nadzor i održavanje sadržaja.</a:t>
            </a:r>
            <a:br>
              <a:rPr lang="sr-Latn-RS" sz="2000"/>
            </a:br>
            <a:r>
              <a:rPr lang="sr-Latn-RS" sz="2000"/>
              <a:t> Ova aplikacija je primer kako se osnovna web tehnologija može koristiti za stvaranje funkcionalnog i intuitivnog sistema koji pomaže u svakodnevnom korišćenju i upravljanju kulinarskim podacima.</a:t>
            </a:r>
            <a:endParaRPr/>
          </a:p>
          <a:p>
            <a:pPr indent="0" lvl="0" marL="50800" rtl="0" algn="l">
              <a:lnSpc>
                <a:spcPct val="100000"/>
              </a:lnSpc>
              <a:spcBef>
                <a:spcPts val="360"/>
              </a:spcBef>
              <a:spcAft>
                <a:spcPts val="0"/>
              </a:spcAft>
              <a:buSzPts val="1800"/>
              <a:buNone/>
            </a:pPr>
            <a:r>
              <a:t/>
            </a:r>
            <a:endParaRPr sz="1400"/>
          </a:p>
          <a:p>
            <a:pPr indent="-228600" lvl="0" marL="457200" rtl="0" algn="l">
              <a:lnSpc>
                <a:spcPct val="100000"/>
              </a:lnSpc>
              <a:spcBef>
                <a:spcPts val="360"/>
              </a:spcBef>
              <a:spcAft>
                <a:spcPts val="0"/>
              </a:spcAft>
              <a:buClr>
                <a:schemeClr val="dk1"/>
              </a:buClr>
              <a:buSzPts val="1800"/>
              <a:buNone/>
            </a:pPr>
            <a:r>
              <a:t/>
            </a:r>
            <a:endParaRPr/>
          </a:p>
        </p:txBody>
      </p:sp>
    </p:spTree>
  </p:cSld>
  <p:clrMapOvr>
    <a:masterClrMapping/>
  </p:clrMapOvr>
  <p:transition p14:dur="100">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323528" y="205979"/>
            <a:ext cx="6840760" cy="8572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sr-Latn-RS"/>
              <a:t>Namena aplikacije</a:t>
            </a:r>
            <a:endParaRPr/>
          </a:p>
        </p:txBody>
      </p:sp>
      <p:sp>
        <p:nvSpPr>
          <p:cNvPr id="99" name="Google Shape;99;p3"/>
          <p:cNvSpPr txBox="1"/>
          <p:nvPr>
            <p:ph idx="1" type="body"/>
          </p:nvPr>
        </p:nvSpPr>
        <p:spPr>
          <a:xfrm>
            <a:off x="323528" y="1200150"/>
            <a:ext cx="8568952" cy="3603847"/>
          </a:xfrm>
          <a:prstGeom prst="rect">
            <a:avLst/>
          </a:prstGeom>
          <a:noFill/>
          <a:ln>
            <a:noFill/>
          </a:ln>
        </p:spPr>
        <p:txBody>
          <a:bodyPr anchorCtr="0" anchor="t" bIns="45700" lIns="91425" spcFirstLastPara="1" rIns="91425" wrap="square" tIns="45700">
            <a:normAutofit fontScale="77500" lnSpcReduction="20000"/>
          </a:bodyPr>
          <a:lstStyle/>
          <a:p>
            <a:pPr indent="-342900" lvl="0" marL="457200" rtl="0" algn="l">
              <a:lnSpc>
                <a:spcPct val="100000"/>
              </a:lnSpc>
              <a:spcBef>
                <a:spcPts val="360"/>
              </a:spcBef>
              <a:spcAft>
                <a:spcPts val="0"/>
              </a:spcAft>
              <a:buClr>
                <a:schemeClr val="dk1"/>
              </a:buClr>
              <a:buSzPct val="72580"/>
              <a:buChar char="•"/>
            </a:pPr>
            <a:r>
              <a:rPr lang="sr-Latn-RS"/>
              <a:t>Aplikacija predstavlja </a:t>
            </a:r>
            <a:r>
              <a:rPr b="1" lang="sr-Latn-RS"/>
              <a:t>kulinar­skog asistenta</a:t>
            </a:r>
            <a:r>
              <a:rPr lang="sr-Latn-RS"/>
              <a:t> čija je glavna namena da omogući korisnicima jednostavno deljenje, pregled i organizovanje recepata. Korisnici mogu da unose svoje recepte, uređuju ih i dele sa drugima, dok posetioci mogu da istražuju već objavljene sadržaje. Pored osnovnih funkcionalnosti za obične korisnike, aplikacija uključuje i uloge moderatora i administratora, koji obezbeđuju kontrolu kvaliteta sadržaja i pravilno funkcionisanje sistema.</a:t>
            </a:r>
            <a:endParaRPr/>
          </a:p>
          <a:p>
            <a:pPr indent="-342900" lvl="0" marL="457200" rtl="0" algn="l">
              <a:lnSpc>
                <a:spcPct val="100000"/>
              </a:lnSpc>
              <a:spcBef>
                <a:spcPts val="360"/>
              </a:spcBef>
              <a:spcAft>
                <a:spcPts val="0"/>
              </a:spcAft>
              <a:buClr>
                <a:schemeClr val="dk1"/>
              </a:buClr>
              <a:buSzPct val="72580"/>
              <a:buChar char="•"/>
            </a:pPr>
            <a:r>
              <a:rPr lang="sr-Latn-RS"/>
              <a:t>Na ovaj način obezbeđuje se zajednički prostor za ljubitelje kulinarstva, gde je svaki recept pregledan i organizovan, a istovremeno postoji jasan sistem kontrole i administracije.</a:t>
            </a:r>
            <a:endParaRPr/>
          </a:p>
          <a:p>
            <a:pPr indent="-228600" lvl="0" marL="457200" rtl="0" algn="l">
              <a:lnSpc>
                <a:spcPct val="100000"/>
              </a:lnSpc>
              <a:spcBef>
                <a:spcPts val="360"/>
              </a:spcBef>
              <a:spcAft>
                <a:spcPts val="0"/>
              </a:spcAft>
              <a:buClr>
                <a:schemeClr val="dk1"/>
              </a:buClr>
              <a:buSzPct val="7258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idx="1" type="body"/>
          </p:nvPr>
        </p:nvSpPr>
        <p:spPr>
          <a:xfrm>
            <a:off x="323528" y="1068860"/>
            <a:ext cx="8568952" cy="3735137"/>
          </a:xfrm>
          <a:prstGeom prst="rect">
            <a:avLst/>
          </a:prstGeom>
          <a:noFill/>
          <a:ln>
            <a:noFill/>
          </a:ln>
        </p:spPr>
        <p:txBody>
          <a:bodyPr anchorCtr="0" anchor="t" bIns="45700" lIns="91425" spcFirstLastPara="1" rIns="91425" wrap="square" tIns="45700">
            <a:normAutofit/>
          </a:bodyPr>
          <a:lstStyle/>
          <a:p>
            <a:pPr indent="0" lvl="0" marL="114300" rtl="0" algn="l">
              <a:lnSpc>
                <a:spcPct val="100000"/>
              </a:lnSpc>
              <a:spcBef>
                <a:spcPts val="360"/>
              </a:spcBef>
              <a:spcAft>
                <a:spcPts val="0"/>
              </a:spcAft>
              <a:buSzPts val="1800"/>
              <a:buNone/>
            </a:pPr>
            <a:r>
              <a:rPr lang="sr-Latn-RS" sz="1800"/>
              <a:t>👤 </a:t>
            </a:r>
            <a:r>
              <a:rPr b="1" lang="sr-Latn-RS" sz="1800"/>
              <a:t>Posetilac</a:t>
            </a:r>
            <a:endParaRPr/>
          </a:p>
          <a:p>
            <a:pPr indent="-342900" lvl="0" marL="457200" rtl="0" algn="l">
              <a:lnSpc>
                <a:spcPct val="100000"/>
              </a:lnSpc>
              <a:spcBef>
                <a:spcPts val="360"/>
              </a:spcBef>
              <a:spcAft>
                <a:spcPts val="0"/>
              </a:spcAft>
              <a:buClr>
                <a:schemeClr val="dk1"/>
              </a:buClr>
              <a:buSzPts val="1800"/>
              <a:buChar char="•"/>
            </a:pPr>
            <a:r>
              <a:rPr lang="sr-Latn-RS" sz="1800"/>
              <a:t>Posetilac je korisnik koji još uvek nije registrovan na platformi. Njegova uloga je ograničena, ali mu aplikacija omogućava osnovne funkcionalnosti kako bi mogao da stekne uvid u njen sadržaj i odluči da se registruje. Posetilac može da pregleda sve recepte koji se nalaze u bazi, a ukoliko želi da postane aktivan učesnik u zajednici i dodaje sopstvene recepte, potrebno je da izvrši registraciju.</a:t>
            </a:r>
            <a:endParaRPr/>
          </a:p>
          <a:p>
            <a:pPr indent="0" lvl="0" marL="114300" rtl="0" algn="l">
              <a:lnSpc>
                <a:spcPct val="100000"/>
              </a:lnSpc>
              <a:spcBef>
                <a:spcPts val="360"/>
              </a:spcBef>
              <a:spcAft>
                <a:spcPts val="0"/>
              </a:spcAft>
              <a:buSzPts val="1800"/>
              <a:buNone/>
            </a:pPr>
            <a:r>
              <a:rPr lang="sr-Latn-RS" sz="1800"/>
              <a:t>👥 </a:t>
            </a:r>
            <a:r>
              <a:rPr b="1" lang="sr-Latn-RS" sz="1800"/>
              <a:t>Korisnik</a:t>
            </a:r>
            <a:endParaRPr/>
          </a:p>
          <a:p>
            <a:pPr indent="-342900" lvl="0" marL="457200" rtl="0" algn="l">
              <a:lnSpc>
                <a:spcPct val="100000"/>
              </a:lnSpc>
              <a:spcBef>
                <a:spcPts val="360"/>
              </a:spcBef>
              <a:spcAft>
                <a:spcPts val="0"/>
              </a:spcAft>
              <a:buClr>
                <a:schemeClr val="dk1"/>
              </a:buClr>
              <a:buSzPts val="1800"/>
              <a:buChar char="•"/>
            </a:pPr>
            <a:r>
              <a:rPr lang="sr-Latn-RS" sz="1800"/>
              <a:t>Korisnik je registrovani član aplikacije. Nakon što se prijavi na svoj nalog, dobija mogućnost da u potpunosti koristi funkcionalnosti sistema namenjene članovima zajednice. Korisnik može da dodaje nove recepte, pregleda, ažurira i briše sopstvene recepte, kao i da uređuje svoj profil. Na taj način on aktivno doprinosi razvoju baze recepata i ima kontrolu nad sopstvenim sadržajem.</a:t>
            </a:r>
            <a:endParaRPr/>
          </a:p>
          <a:p>
            <a:pPr indent="-228600" lvl="0" marL="457200" rtl="0" algn="l">
              <a:lnSpc>
                <a:spcPct val="100000"/>
              </a:lnSpc>
              <a:spcBef>
                <a:spcPts val="360"/>
              </a:spcBef>
              <a:spcAft>
                <a:spcPts val="0"/>
              </a:spcAft>
              <a:buClr>
                <a:schemeClr val="dk1"/>
              </a:buClr>
              <a:buSzPts val="1800"/>
              <a:buNone/>
            </a:pPr>
            <a:r>
              <a:t/>
            </a:r>
            <a:endParaRPr sz="1800"/>
          </a:p>
          <a:p>
            <a:pPr indent="-228600" lvl="0" marL="457200" rtl="0" algn="l">
              <a:lnSpc>
                <a:spcPct val="100000"/>
              </a:lnSpc>
              <a:spcBef>
                <a:spcPts val="360"/>
              </a:spcBef>
              <a:spcAft>
                <a:spcPts val="0"/>
              </a:spcAft>
              <a:buClr>
                <a:schemeClr val="dk1"/>
              </a:buClr>
              <a:buSzPts val="18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idx="1" type="body"/>
          </p:nvPr>
        </p:nvSpPr>
        <p:spPr>
          <a:xfrm>
            <a:off x="323528" y="1076583"/>
            <a:ext cx="8568952" cy="3727414"/>
          </a:xfrm>
          <a:prstGeom prst="rect">
            <a:avLst/>
          </a:prstGeom>
          <a:noFill/>
          <a:ln>
            <a:noFill/>
          </a:ln>
        </p:spPr>
        <p:txBody>
          <a:bodyPr anchorCtr="0" anchor="t" bIns="45700" lIns="91425" spcFirstLastPara="1" rIns="91425" wrap="square" tIns="45700">
            <a:normAutofit lnSpcReduction="10000"/>
          </a:bodyPr>
          <a:lstStyle/>
          <a:p>
            <a:pPr indent="0" lvl="0" marL="114300" rtl="0" algn="l">
              <a:lnSpc>
                <a:spcPct val="100000"/>
              </a:lnSpc>
              <a:spcBef>
                <a:spcPts val="360"/>
              </a:spcBef>
              <a:spcAft>
                <a:spcPts val="0"/>
              </a:spcAft>
              <a:buSzPts val="1800"/>
              <a:buNone/>
            </a:pPr>
            <a:r>
              <a:rPr lang="sr-Latn-RS" sz="1800"/>
              <a:t>👮</a:t>
            </a:r>
            <a:r>
              <a:rPr b="1" lang="sr-Latn-RS" sz="1800"/>
              <a:t>Moderator</a:t>
            </a:r>
            <a:endParaRPr b="1"/>
          </a:p>
          <a:p>
            <a:pPr indent="-342900" lvl="0" marL="457200" rtl="0" algn="l">
              <a:lnSpc>
                <a:spcPct val="100000"/>
              </a:lnSpc>
              <a:spcBef>
                <a:spcPts val="360"/>
              </a:spcBef>
              <a:spcAft>
                <a:spcPts val="0"/>
              </a:spcAft>
              <a:buClr>
                <a:schemeClr val="dk1"/>
              </a:buClr>
              <a:buSzPts val="1800"/>
              <a:buChar char="•"/>
            </a:pPr>
            <a:r>
              <a:rPr lang="sr-Latn-RS" sz="1800"/>
              <a:t>Moderator ima posebnu ulogu u sistemu, jer je zadužen za kontrolu sadržaja. Njegov zadatak je da pregleda recepte koje dodaju korisnici i odluči da li će oni biti odobreni ili neodobreni, čime obezbeđuje kvalitet i relevantnost unetih informacija. Pored toga, moderator može da briše ili ažurira recepte i upravlja sopstvenim profilom. Ova uloga je ključna za održavanje reda i validnosti u aplikaciji.</a:t>
            </a:r>
            <a:endParaRPr/>
          </a:p>
          <a:p>
            <a:pPr indent="0" lvl="0" marL="114300" rtl="0" algn="l">
              <a:lnSpc>
                <a:spcPct val="100000"/>
              </a:lnSpc>
              <a:spcBef>
                <a:spcPts val="360"/>
              </a:spcBef>
              <a:spcAft>
                <a:spcPts val="0"/>
              </a:spcAft>
              <a:buSzPts val="1800"/>
              <a:buNone/>
            </a:pPr>
            <a:r>
              <a:rPr lang="sr-Latn-RS" sz="1800"/>
              <a:t>👑 </a:t>
            </a:r>
            <a:r>
              <a:rPr b="1" lang="sr-Latn-RS" sz="1800"/>
              <a:t>Administrator</a:t>
            </a:r>
            <a:endParaRPr/>
          </a:p>
          <a:p>
            <a:pPr indent="-342900" lvl="0" marL="457200" rtl="0" algn="l">
              <a:lnSpc>
                <a:spcPct val="100000"/>
              </a:lnSpc>
              <a:spcBef>
                <a:spcPts val="360"/>
              </a:spcBef>
              <a:spcAft>
                <a:spcPts val="0"/>
              </a:spcAft>
              <a:buClr>
                <a:schemeClr val="dk1"/>
              </a:buClr>
              <a:buSzPts val="1800"/>
              <a:buChar char="•"/>
            </a:pPr>
            <a:r>
              <a:rPr lang="sr-Latn-RS" sz="1800"/>
              <a:t>Administrator predstavlja najviši nivo ovlašćenja u sistemu. On ima potpunu kontrolu nad svim korisnicima, moderatorima i receptima. Administrator može da pregleda, ažurira i briše sve recepte, ali i da upravlja korisničkim nalozima – uključujući njihovo uređivanje, brisanje ili dodeljivanje moderatorskih privilegija. Pored toga, administrator ima mogućnost da upravlja sopstvenim profilom. Njegova uloga je da osigura stabilnost i bezbednost aplikacije, kao i da pravilno funkcioniše čitav sistem.</a:t>
            </a:r>
            <a:endParaRPr/>
          </a:p>
          <a:p>
            <a:pPr indent="-228600" lvl="0" marL="457200" rtl="0" algn="l">
              <a:lnSpc>
                <a:spcPct val="100000"/>
              </a:lnSpc>
              <a:spcBef>
                <a:spcPts val="360"/>
              </a:spcBef>
              <a:spcAft>
                <a:spcPts val="0"/>
              </a:spcAft>
              <a:buClr>
                <a:schemeClr val="dk1"/>
              </a:buClr>
              <a:buSzPts val="1800"/>
              <a:buNone/>
            </a:pPr>
            <a:r>
              <a:t/>
            </a:r>
            <a:endParaRPr sz="1800"/>
          </a:p>
          <a:p>
            <a:pPr indent="-228600" lvl="0" marL="457200" rtl="0" algn="l">
              <a:lnSpc>
                <a:spcPct val="100000"/>
              </a:lnSpc>
              <a:spcBef>
                <a:spcPts val="360"/>
              </a:spcBef>
              <a:spcAft>
                <a:spcPts val="0"/>
              </a:spcAft>
              <a:buClr>
                <a:schemeClr val="dk1"/>
              </a:buClr>
              <a:buSzPts val="18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323528" y="205979"/>
            <a:ext cx="6840760" cy="8572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sr-Latn-RS"/>
              <a:t>Korišćene tehnologije</a:t>
            </a:r>
            <a:endParaRPr/>
          </a:p>
        </p:txBody>
      </p:sp>
      <p:sp>
        <p:nvSpPr>
          <p:cNvPr id="115" name="Google Shape;115;p6"/>
          <p:cNvSpPr txBox="1"/>
          <p:nvPr>
            <p:ph idx="1" type="body"/>
          </p:nvPr>
        </p:nvSpPr>
        <p:spPr>
          <a:xfrm>
            <a:off x="317376" y="1200151"/>
            <a:ext cx="3886200" cy="3394472"/>
          </a:xfrm>
          <a:prstGeom prst="rect">
            <a:avLst/>
          </a:prstGeom>
          <a:noFill/>
          <a:ln>
            <a:noFill/>
          </a:ln>
        </p:spPr>
        <p:txBody>
          <a:bodyPr anchorCtr="0" anchor="t" bIns="45700" lIns="91425" spcFirstLastPara="1" rIns="91425" wrap="square" tIns="45700">
            <a:normAutofit/>
          </a:bodyPr>
          <a:lstStyle/>
          <a:p>
            <a:pPr indent="0" lvl="0" marL="50800" rtl="0" algn="l">
              <a:lnSpc>
                <a:spcPct val="100000"/>
              </a:lnSpc>
              <a:spcBef>
                <a:spcPts val="560"/>
              </a:spcBef>
              <a:spcAft>
                <a:spcPts val="0"/>
              </a:spcAft>
              <a:buSzPts val="2800"/>
              <a:buNone/>
            </a:pPr>
            <a:r>
              <a:rPr b="1" lang="sr-Latn-RS"/>
              <a:t>Backend:</a:t>
            </a:r>
            <a:endParaRPr/>
          </a:p>
          <a:p>
            <a:pPr indent="-406400" lvl="0" marL="457200" rtl="0" algn="l">
              <a:lnSpc>
                <a:spcPct val="100000"/>
              </a:lnSpc>
              <a:spcBef>
                <a:spcPts val="560"/>
              </a:spcBef>
              <a:spcAft>
                <a:spcPts val="0"/>
              </a:spcAft>
              <a:buClr>
                <a:schemeClr val="dk1"/>
              </a:buClr>
              <a:buSzPts val="2800"/>
              <a:buChar char="•"/>
            </a:pPr>
            <a:r>
              <a:rPr b="1" lang="sr-Latn-RS" sz="2000"/>
              <a:t>Core PHP</a:t>
            </a:r>
            <a:r>
              <a:rPr lang="sr-Latn-RS" sz="2000"/>
              <a:t> – obrada podataka i logika aplikacije</a:t>
            </a:r>
            <a:endParaRPr/>
          </a:p>
          <a:p>
            <a:pPr indent="-406400" lvl="0" marL="457200" rtl="0" algn="l">
              <a:lnSpc>
                <a:spcPct val="100000"/>
              </a:lnSpc>
              <a:spcBef>
                <a:spcPts val="560"/>
              </a:spcBef>
              <a:spcAft>
                <a:spcPts val="0"/>
              </a:spcAft>
              <a:buClr>
                <a:schemeClr val="dk1"/>
              </a:buClr>
              <a:buSzPts val="2800"/>
              <a:buChar char="•"/>
            </a:pPr>
            <a:r>
              <a:rPr b="1" lang="sr-Latn-RS" sz="2000"/>
              <a:t>MySQL</a:t>
            </a:r>
            <a:r>
              <a:rPr lang="sr-Latn-RS" sz="2000"/>
              <a:t> – baza podataka za korisnike i recepte</a:t>
            </a:r>
            <a:endParaRPr/>
          </a:p>
          <a:p>
            <a:pPr indent="-406400" lvl="0" marL="457200" rtl="0" algn="l">
              <a:lnSpc>
                <a:spcPct val="100000"/>
              </a:lnSpc>
              <a:spcBef>
                <a:spcPts val="560"/>
              </a:spcBef>
              <a:spcAft>
                <a:spcPts val="0"/>
              </a:spcAft>
              <a:buClr>
                <a:schemeClr val="dk1"/>
              </a:buClr>
              <a:buSzPts val="2800"/>
              <a:buChar char="•"/>
            </a:pPr>
            <a:r>
              <a:rPr b="1" lang="sr-Latn-RS" sz="2000"/>
              <a:t>AJAX</a:t>
            </a:r>
            <a:r>
              <a:rPr lang="sr-Latn-RS" sz="2000"/>
              <a:t> – dinamičko automatsko punjenje forme bez osvežavanja stranice</a:t>
            </a:r>
            <a:endParaRPr/>
          </a:p>
          <a:p>
            <a:pPr indent="-228600" lvl="0" marL="457200" rtl="0" algn="l">
              <a:lnSpc>
                <a:spcPct val="100000"/>
              </a:lnSpc>
              <a:spcBef>
                <a:spcPts val="560"/>
              </a:spcBef>
              <a:spcAft>
                <a:spcPts val="0"/>
              </a:spcAft>
              <a:buClr>
                <a:schemeClr val="dk1"/>
              </a:buClr>
              <a:buSzPts val="2800"/>
              <a:buNone/>
            </a:pPr>
            <a:r>
              <a:t/>
            </a:r>
            <a:endParaRPr/>
          </a:p>
        </p:txBody>
      </p:sp>
      <p:sp>
        <p:nvSpPr>
          <p:cNvPr id="116" name="Google Shape;116;p6"/>
          <p:cNvSpPr txBox="1"/>
          <p:nvPr>
            <p:ph idx="2" type="body"/>
          </p:nvPr>
        </p:nvSpPr>
        <p:spPr>
          <a:xfrm>
            <a:off x="4695787" y="1200151"/>
            <a:ext cx="3886200" cy="3394472"/>
          </a:xfrm>
          <a:prstGeom prst="rect">
            <a:avLst/>
          </a:prstGeom>
          <a:noFill/>
          <a:ln>
            <a:noFill/>
          </a:ln>
        </p:spPr>
        <p:txBody>
          <a:bodyPr anchorCtr="0" anchor="t" bIns="45700" lIns="91425" spcFirstLastPara="1" rIns="91425" wrap="square" tIns="45700">
            <a:normAutofit/>
          </a:bodyPr>
          <a:lstStyle/>
          <a:p>
            <a:pPr indent="0" lvl="0" marL="50800" rtl="0" algn="l">
              <a:lnSpc>
                <a:spcPct val="100000"/>
              </a:lnSpc>
              <a:spcBef>
                <a:spcPts val="560"/>
              </a:spcBef>
              <a:spcAft>
                <a:spcPts val="0"/>
              </a:spcAft>
              <a:buSzPts val="2800"/>
              <a:buNone/>
            </a:pPr>
            <a:r>
              <a:rPr b="1" lang="sr-Latn-RS"/>
              <a:t>Frontend:</a:t>
            </a:r>
            <a:endParaRPr/>
          </a:p>
          <a:p>
            <a:pPr indent="-406400" lvl="0" marL="457200" rtl="0" algn="l">
              <a:lnSpc>
                <a:spcPct val="100000"/>
              </a:lnSpc>
              <a:spcBef>
                <a:spcPts val="560"/>
              </a:spcBef>
              <a:spcAft>
                <a:spcPts val="0"/>
              </a:spcAft>
              <a:buClr>
                <a:schemeClr val="dk1"/>
              </a:buClr>
              <a:buSzPts val="2800"/>
              <a:buChar char="•"/>
            </a:pPr>
            <a:r>
              <a:rPr b="1" lang="sr-Latn-RS" sz="2000"/>
              <a:t>HTML i CSS</a:t>
            </a:r>
            <a:r>
              <a:rPr lang="sr-Latn-RS" sz="2000"/>
              <a:t> – struktura i izgled stranica</a:t>
            </a:r>
            <a:endParaRPr/>
          </a:p>
          <a:p>
            <a:pPr indent="-406400" lvl="0" marL="457200" rtl="0" algn="l">
              <a:lnSpc>
                <a:spcPct val="100000"/>
              </a:lnSpc>
              <a:spcBef>
                <a:spcPts val="560"/>
              </a:spcBef>
              <a:spcAft>
                <a:spcPts val="0"/>
              </a:spcAft>
              <a:buClr>
                <a:schemeClr val="dk1"/>
              </a:buClr>
              <a:buSzPts val="2800"/>
              <a:buChar char="•"/>
            </a:pPr>
            <a:r>
              <a:rPr b="1" lang="sr-Latn-RS" sz="2000"/>
              <a:t>JavaScript</a:t>
            </a:r>
            <a:r>
              <a:rPr lang="sr-Latn-RS" sz="2000"/>
              <a:t> – interaktivnost stranica i pozivi AJAX-om</a:t>
            </a:r>
            <a:endParaRPr/>
          </a:p>
          <a:p>
            <a:pPr indent="-406400" lvl="0" marL="457200" rtl="0" algn="l">
              <a:lnSpc>
                <a:spcPct val="100000"/>
              </a:lnSpc>
              <a:spcBef>
                <a:spcPts val="560"/>
              </a:spcBef>
              <a:spcAft>
                <a:spcPts val="0"/>
              </a:spcAft>
              <a:buClr>
                <a:schemeClr val="dk1"/>
              </a:buClr>
              <a:buSzPts val="2800"/>
              <a:buChar char="•"/>
            </a:pPr>
            <a:r>
              <a:rPr b="1" lang="sr-Latn-RS" sz="2000"/>
              <a:t>Bootstrap</a:t>
            </a:r>
            <a:r>
              <a:rPr lang="sr-Latn-RS" sz="2000"/>
              <a:t> – responzivni dizajn i stilizovanje elemenata</a:t>
            </a:r>
            <a:endParaRPr/>
          </a:p>
          <a:p>
            <a:pPr indent="-228600" lvl="0" marL="457200" rtl="0" algn="l">
              <a:lnSpc>
                <a:spcPct val="100000"/>
              </a:lnSpc>
              <a:spcBef>
                <a:spcPts val="560"/>
              </a:spcBef>
              <a:spcAft>
                <a:spcPts val="0"/>
              </a:spcAft>
              <a:buClr>
                <a:schemeClr val="dk1"/>
              </a:buClr>
              <a:buSzPts val="2800"/>
              <a:buNone/>
            </a:pPr>
            <a:r>
              <a:t/>
            </a:r>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323528" y="205979"/>
            <a:ext cx="6840760" cy="8572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sr-Latn-RS"/>
              <a:t>Prikaz koda</a:t>
            </a:r>
            <a:endParaRPr/>
          </a:p>
        </p:txBody>
      </p:sp>
      <p:sp>
        <p:nvSpPr>
          <p:cNvPr id="122" name="Google Shape;122;p7"/>
          <p:cNvSpPr txBox="1"/>
          <p:nvPr>
            <p:ph idx="1" type="body"/>
          </p:nvPr>
        </p:nvSpPr>
        <p:spPr>
          <a:xfrm>
            <a:off x="317376" y="1200151"/>
            <a:ext cx="3886200" cy="3394472"/>
          </a:xfrm>
          <a:prstGeom prst="rect">
            <a:avLst/>
          </a:prstGeom>
          <a:noFill/>
          <a:ln>
            <a:noFill/>
          </a:ln>
        </p:spPr>
        <p:txBody>
          <a:bodyPr anchorCtr="0" anchor="t" bIns="45700" lIns="91425" spcFirstLastPara="1" rIns="91425" wrap="square" tIns="45700">
            <a:normAutofit/>
          </a:bodyPr>
          <a:lstStyle/>
          <a:p>
            <a:pPr indent="0" lvl="0" marL="50800" rtl="0" algn="l">
              <a:lnSpc>
                <a:spcPct val="100000"/>
              </a:lnSpc>
              <a:spcBef>
                <a:spcPts val="560"/>
              </a:spcBef>
              <a:spcAft>
                <a:spcPts val="0"/>
              </a:spcAft>
              <a:buSzPts val="2800"/>
              <a:buNone/>
            </a:pPr>
            <a:r>
              <a:rPr lang="sr-Latn-RS" sz="1600"/>
              <a:t>Ovaj PHP kod implementira funkcionalnost registracije korisnika. Prvo proverava da li su svi podaci uneseni i da li korisnik sa istim korisničkim imenom ili email-om već postoji u bazi. Ako su podaci ispravni i lozinke se poklapaju, lozinka se hešira radi sigurnosti, a novi korisnik se upisuje u bazu podataka. Nakon uspešne registracije, korisnik se automatski loguje i preusmerava na glavnu stranicu. U slučaju bilo kakve greške – kao što su neispravni podaci, duplikat korisnika ili problem sa bazom – sistem prikazuje odgovarajuću poruku.</a:t>
            </a:r>
            <a:endParaRPr/>
          </a:p>
        </p:txBody>
      </p:sp>
      <p:sp>
        <p:nvSpPr>
          <p:cNvPr id="123" name="Google Shape;123;p7"/>
          <p:cNvSpPr txBox="1"/>
          <p:nvPr>
            <p:ph idx="2" type="body"/>
          </p:nvPr>
        </p:nvSpPr>
        <p:spPr>
          <a:xfrm>
            <a:off x="4355976" y="1200151"/>
            <a:ext cx="3886200" cy="3394472"/>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560"/>
              </a:spcBef>
              <a:spcAft>
                <a:spcPts val="0"/>
              </a:spcAft>
              <a:buClr>
                <a:schemeClr val="dk1"/>
              </a:buClr>
              <a:buSzPts val="2800"/>
              <a:buNone/>
            </a:pPr>
            <a:r>
              <a:t/>
            </a:r>
            <a:endParaRPr/>
          </a:p>
        </p:txBody>
      </p:sp>
      <p:pic>
        <p:nvPicPr>
          <p:cNvPr descr="Slika na kojoj se nalazi tekst, snimak ekrana&#10;&#10;Sadržaj generisan AI-jem može biti netačan." id="124" name="Google Shape;124;p7"/>
          <p:cNvPicPr preferRelativeResize="0"/>
          <p:nvPr/>
        </p:nvPicPr>
        <p:blipFill rotWithShape="1">
          <a:blip r:embed="rId3">
            <a:alphaModFix/>
          </a:blip>
          <a:srcRect b="0" l="0" r="0" t="0"/>
          <a:stretch/>
        </p:blipFill>
        <p:spPr>
          <a:xfrm>
            <a:off x="4358604" y="1197060"/>
            <a:ext cx="4357785" cy="339810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8"/>
          <p:cNvSpPr txBox="1"/>
          <p:nvPr>
            <p:ph type="title"/>
          </p:nvPr>
        </p:nvSpPr>
        <p:spPr>
          <a:xfrm>
            <a:off x="323528" y="205979"/>
            <a:ext cx="6840760" cy="129745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800"/>
              <a:buNone/>
            </a:pPr>
            <a:r>
              <a:rPr b="0" lang="sr-Latn-RS" sz="1100"/>
              <a:t>Ovaj HTML i PHP kod implementira formu i funkcionalnost za dodavanje novih recepata u aplikaciju. HTML deo prikazuje stranicu sa formom gde korisnik unosi naziv recepta, sastojke, uputstvo, putanju do slike i kategoriju. Dugme "Dodaj recept" šalje podatke na server koristeći POST metodu.</a:t>
            </a:r>
            <a:endParaRPr sz="1100"/>
          </a:p>
          <a:p>
            <a:pPr indent="0" lvl="0" marL="0" rtl="0" algn="l">
              <a:lnSpc>
                <a:spcPct val="100000"/>
              </a:lnSpc>
              <a:spcBef>
                <a:spcPts val="0"/>
              </a:spcBef>
              <a:spcAft>
                <a:spcPts val="0"/>
              </a:spcAft>
              <a:buSzPts val="1800"/>
              <a:buNone/>
            </a:pPr>
            <a:r>
              <a:rPr b="0" lang="sr-Latn-RS" sz="1100"/>
              <a:t>PHP deo prima podatke iz forme, proverava da li su poslati POST metodom i dodaje novi recept u bazu podataka. Svaki recept je povezan sa trenutno ulogovanim korisnikom i inicijalno označen kao neodobren (is_approved = 0). Ako je unos uspešan, korisnik se preusmerava na glavnu stranicu, a u slučaju greške sistem prikazuje odgovarajuću poruku. Ovaj kod omogućava sigurno i jednostavno dodavanje recepata u aplikaciju.</a:t>
            </a:r>
            <a:endParaRPr sz="1100"/>
          </a:p>
          <a:p>
            <a:pPr indent="0" lvl="0" marL="0" rtl="0" algn="ctr">
              <a:lnSpc>
                <a:spcPct val="100000"/>
              </a:lnSpc>
              <a:spcBef>
                <a:spcPts val="0"/>
              </a:spcBef>
              <a:spcAft>
                <a:spcPts val="0"/>
              </a:spcAft>
              <a:buClr>
                <a:schemeClr val="dk1"/>
              </a:buClr>
              <a:buSzPts val="1800"/>
              <a:buNone/>
            </a:pPr>
            <a:r>
              <a:t/>
            </a:r>
            <a:endParaRPr sz="1100"/>
          </a:p>
        </p:txBody>
      </p:sp>
      <p:pic>
        <p:nvPicPr>
          <p:cNvPr descr="Slika na kojoj se nalazi tekst, snimak ekrana&#10;&#10;Sadržaj generisan AI-jem može biti netačan." id="130" name="Google Shape;130;p8"/>
          <p:cNvPicPr preferRelativeResize="0"/>
          <p:nvPr/>
        </p:nvPicPr>
        <p:blipFill rotWithShape="1">
          <a:blip r:embed="rId3">
            <a:alphaModFix/>
          </a:blip>
          <a:srcRect b="0" l="0" r="0" t="0"/>
          <a:stretch/>
        </p:blipFill>
        <p:spPr>
          <a:xfrm>
            <a:off x="320034" y="1505980"/>
            <a:ext cx="3507168" cy="3112358"/>
          </a:xfrm>
          <a:prstGeom prst="rect">
            <a:avLst/>
          </a:prstGeom>
          <a:noFill/>
          <a:ln>
            <a:noFill/>
          </a:ln>
        </p:spPr>
      </p:pic>
      <p:pic>
        <p:nvPicPr>
          <p:cNvPr descr="Slika na kojoj se nalazi tekst, snimak ekrana, softver&#10;&#10;Sadržaj generisan AI-jem može biti netačan." id="131" name="Google Shape;131;p8"/>
          <p:cNvPicPr preferRelativeResize="0"/>
          <p:nvPr/>
        </p:nvPicPr>
        <p:blipFill rotWithShape="1">
          <a:blip r:embed="rId4">
            <a:alphaModFix/>
          </a:blip>
          <a:srcRect b="0" l="0" r="0" t="0"/>
          <a:stretch/>
        </p:blipFill>
        <p:spPr>
          <a:xfrm>
            <a:off x="4178443" y="1521427"/>
            <a:ext cx="4718107" cy="3096911"/>
          </a:xfrm>
          <a:prstGeom prst="rect">
            <a:avLst/>
          </a:prstGeom>
          <a:noFill/>
          <a:ln>
            <a:noFill/>
          </a:ln>
        </p:spPr>
      </p:pic>
    </p:spTree>
  </p:cSld>
  <p:clrMapOvr>
    <a:masterClrMapping/>
  </p:clrMapOvr>
  <p:transition p14:dur="100">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txBox="1"/>
          <p:nvPr>
            <p:ph type="title"/>
          </p:nvPr>
        </p:nvSpPr>
        <p:spPr>
          <a:xfrm>
            <a:off x="323528" y="205979"/>
            <a:ext cx="6840760" cy="128201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b="0" lang="sr-Latn-RS" sz="1000"/>
              <a:t>Ovaj HTML i JavaScript kod predstavlja formu za ažuriranje recepta u aplikaciji. HTML deo prikazuje vizuelnu strukturu forme sa poljima za naziv recepta, sastojke, uputstvo, putanju do slike i kategoriju. Forma takođe sadrži skriveno polje za ID recepta kako bi se znalo koji recept se ažurira.</a:t>
            </a:r>
            <a:endParaRPr/>
          </a:p>
          <a:p>
            <a:pPr indent="0" lvl="0" marL="0" rtl="0" algn="l">
              <a:lnSpc>
                <a:spcPct val="100000"/>
              </a:lnSpc>
              <a:spcBef>
                <a:spcPts val="0"/>
              </a:spcBef>
              <a:spcAft>
                <a:spcPts val="0"/>
              </a:spcAft>
              <a:buSzPts val="1800"/>
              <a:buNone/>
            </a:pPr>
            <a:r>
              <a:rPr b="0" lang="sr-Latn-RS" sz="1000"/>
              <a:t>JavaScript deo koristi AJAX (</a:t>
            </a:r>
            <a:r>
              <a:rPr b="0" lang="sr-Latn-RS" sz="1000">
                <a:latin typeface="Consolas"/>
                <a:ea typeface="Consolas"/>
                <a:cs typeface="Consolas"/>
                <a:sym typeface="Consolas"/>
              </a:rPr>
              <a:t>fetch</a:t>
            </a:r>
            <a:r>
              <a:rPr b="0" lang="sr-Latn-RS" sz="1000"/>
              <a:t>) da automatski popuni polja forme podacima iz baze na osnovu ID-ja recepta prosleđenog u URL-u. Nakon što korisnik izmeni podatke, forma se šalje asinhrono (</a:t>
            </a:r>
            <a:r>
              <a:rPr b="0" lang="sr-Latn-RS" sz="1000">
                <a:latin typeface="Consolas"/>
                <a:ea typeface="Consolas"/>
                <a:cs typeface="Consolas"/>
                <a:sym typeface="Consolas"/>
              </a:rPr>
              <a:t>fetch</a:t>
            </a:r>
            <a:r>
              <a:rPr b="0" lang="sr-Latn-RS" sz="1000"/>
              <a:t> POST zahtev) bez ponovnog učitavanja stranice, a aplikacija prikazuje poruku o uspešnom ažuriranju ili grešci. Ovaj pristup omogućava interaktivno i moderno korisničko iskustvo.</a:t>
            </a:r>
            <a:endParaRPr/>
          </a:p>
          <a:p>
            <a:pPr indent="0" lvl="0" marL="0" rtl="0" algn="ctr">
              <a:lnSpc>
                <a:spcPct val="100000"/>
              </a:lnSpc>
              <a:spcBef>
                <a:spcPts val="0"/>
              </a:spcBef>
              <a:spcAft>
                <a:spcPts val="0"/>
              </a:spcAft>
              <a:buClr>
                <a:schemeClr val="dk1"/>
              </a:buClr>
              <a:buSzPts val="1800"/>
              <a:buNone/>
            </a:pPr>
            <a:r>
              <a:t/>
            </a:r>
            <a:endParaRPr b="0" sz="1000"/>
          </a:p>
        </p:txBody>
      </p:sp>
      <p:pic>
        <p:nvPicPr>
          <p:cNvPr descr="Slika na kojoj se nalazi tekst, snimak ekrana&#10;&#10;Sadržaj generisan AI-jem može biti netačan." id="137" name="Google Shape;137;p9"/>
          <p:cNvPicPr preferRelativeResize="0"/>
          <p:nvPr/>
        </p:nvPicPr>
        <p:blipFill rotWithShape="1">
          <a:blip r:embed="rId3">
            <a:alphaModFix/>
          </a:blip>
          <a:srcRect b="0" l="0" r="0" t="0"/>
          <a:stretch/>
        </p:blipFill>
        <p:spPr>
          <a:xfrm>
            <a:off x="323712" y="1289736"/>
            <a:ext cx="3847348" cy="3390386"/>
          </a:xfrm>
          <a:prstGeom prst="rect">
            <a:avLst/>
          </a:prstGeom>
          <a:noFill/>
          <a:ln>
            <a:noFill/>
          </a:ln>
        </p:spPr>
      </p:pic>
      <p:pic>
        <p:nvPicPr>
          <p:cNvPr descr="Slika na kojoj se nalazi tekst, snimak ekrana&#10;&#10;Sadržaj generisan AI-jem može biti netačan." id="138" name="Google Shape;138;p9"/>
          <p:cNvPicPr preferRelativeResize="0"/>
          <p:nvPr/>
        </p:nvPicPr>
        <p:blipFill rotWithShape="1">
          <a:blip r:embed="rId4">
            <a:alphaModFix/>
          </a:blip>
          <a:srcRect b="0" l="0" r="0" t="0"/>
          <a:stretch/>
        </p:blipFill>
        <p:spPr>
          <a:xfrm>
            <a:off x="4248555" y="1282012"/>
            <a:ext cx="4562435" cy="3398109"/>
          </a:xfrm>
          <a:prstGeom prst="rect">
            <a:avLst/>
          </a:prstGeom>
          <a:noFill/>
          <a:ln>
            <a:noFill/>
          </a:ln>
        </p:spPr>
      </p:pic>
    </p:spTree>
  </p:cSld>
  <p:clrMapOvr>
    <a:masterClrMapping/>
  </p:clrMapOvr>
  <p:transition p14:dur="100">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0"/>
          <p:cNvSpPr txBox="1"/>
          <p:nvPr>
            <p:ph type="title"/>
          </p:nvPr>
        </p:nvSpPr>
        <p:spPr>
          <a:xfrm>
            <a:off x="323528" y="205979"/>
            <a:ext cx="6616794" cy="996264"/>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b="0" lang="sr-Latn-RS" sz="1000"/>
              <a:t>Ovaj kod omogućava brisanje recepta iz baze podataka. HTML deo prikazuje dugme „Obriši“ koje, kada se klikne, traži potvrdu od korisnika kroz confirm dijalog. Ako korisnik potvrdi, formu šalje sa recipe_id recepta koji treba obrisati.</a:t>
            </a:r>
            <a:endParaRPr sz="1000"/>
          </a:p>
          <a:p>
            <a:pPr indent="0" lvl="0" marL="0" rtl="0" algn="l">
              <a:lnSpc>
                <a:spcPct val="100000"/>
              </a:lnSpc>
              <a:spcBef>
                <a:spcPts val="0"/>
              </a:spcBef>
              <a:spcAft>
                <a:spcPts val="0"/>
              </a:spcAft>
              <a:buSzPts val="1800"/>
              <a:buNone/>
            </a:pPr>
            <a:r>
              <a:rPr b="0" lang="sr-Latn-RS" sz="1000"/>
              <a:t>PHP deo prima ID recepta preko POST zahteva i koristi pripremljeni SQL upit (prepared statement) da bezbedno ukloni odgovarajući zapis iz tabele recipes. Nakon izvršenja upita, sistem prikazuje poruku o uspešnom brisanju ili grešci, čime se obezbeđuje kontrola i bezbednost podataka.</a:t>
            </a:r>
            <a:endParaRPr/>
          </a:p>
          <a:p>
            <a:pPr indent="0" lvl="0" marL="0" rtl="0" algn="ctr">
              <a:lnSpc>
                <a:spcPct val="100000"/>
              </a:lnSpc>
              <a:spcBef>
                <a:spcPts val="0"/>
              </a:spcBef>
              <a:spcAft>
                <a:spcPts val="0"/>
              </a:spcAft>
              <a:buClr>
                <a:schemeClr val="dk1"/>
              </a:buClr>
              <a:buSzPts val="1800"/>
              <a:buNone/>
            </a:pPr>
            <a:r>
              <a:t/>
            </a:r>
            <a:endParaRPr b="0" sz="1000"/>
          </a:p>
        </p:txBody>
      </p:sp>
      <p:pic>
        <p:nvPicPr>
          <p:cNvPr descr="Slika na kojoj se nalazi tekst, snimak ekrana, ekran, softver&#10;&#10;Sadržaj generisan AI-jem može biti netačan." id="144" name="Google Shape;144;p10"/>
          <p:cNvPicPr preferRelativeResize="0"/>
          <p:nvPr/>
        </p:nvPicPr>
        <p:blipFill rotWithShape="1">
          <a:blip r:embed="rId3">
            <a:alphaModFix/>
          </a:blip>
          <a:srcRect b="0" l="0" r="0" t="0"/>
          <a:stretch/>
        </p:blipFill>
        <p:spPr>
          <a:xfrm>
            <a:off x="5651156" y="1289608"/>
            <a:ext cx="3031525" cy="3236183"/>
          </a:xfrm>
          <a:prstGeom prst="rect">
            <a:avLst/>
          </a:prstGeom>
          <a:noFill/>
          <a:ln>
            <a:noFill/>
          </a:ln>
        </p:spPr>
      </p:pic>
      <p:pic>
        <p:nvPicPr>
          <p:cNvPr descr="Slika na kojoj se nalazi snimak ekrana, Font, linija&#10;&#10;Sadržaj generisan AI-jem može biti netačan." id="145" name="Google Shape;145;p10"/>
          <p:cNvPicPr preferRelativeResize="0"/>
          <p:nvPr/>
        </p:nvPicPr>
        <p:blipFill rotWithShape="1">
          <a:blip r:embed="rId4">
            <a:alphaModFix/>
          </a:blip>
          <a:srcRect b="0" l="0" r="0" t="0"/>
          <a:stretch/>
        </p:blipFill>
        <p:spPr>
          <a:xfrm>
            <a:off x="324365" y="2484557"/>
            <a:ext cx="5205284" cy="6763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1"/>
          <p:cNvSpPr txBox="1"/>
          <p:nvPr>
            <p:ph type="title"/>
          </p:nvPr>
        </p:nvSpPr>
        <p:spPr>
          <a:xfrm>
            <a:off x="323528" y="205979"/>
            <a:ext cx="6840760" cy="85725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b="0" lang="sr-Latn-RS" sz="1000"/>
              <a:t>Ovaj deo aplikacije služi za prikaz svih recepata koje je korisnik dodao. HTML kod kreira strukturu stranice sa headerom, navigacijom, glavnim delom za prikaz recepta i footerom, dok JavaScript kod dinamički učitava podatke iz baze putem </a:t>
            </a:r>
            <a:r>
              <a:rPr b="0" lang="sr-Latn-RS" sz="1000">
                <a:latin typeface="Consolas"/>
                <a:ea typeface="Consolas"/>
                <a:cs typeface="Consolas"/>
                <a:sym typeface="Consolas"/>
              </a:rPr>
              <a:t>fetch</a:t>
            </a:r>
            <a:r>
              <a:rPr b="0" lang="sr-Latn-RS" sz="1000"/>
              <a:t> zahteva na </a:t>
            </a:r>
            <a:r>
              <a:rPr b="0" lang="sr-Latn-RS" sz="1000">
                <a:latin typeface="Consolas"/>
                <a:ea typeface="Consolas"/>
                <a:cs typeface="Consolas"/>
                <a:sym typeface="Consolas"/>
              </a:rPr>
              <a:t>read_recipe.php</a:t>
            </a:r>
            <a:r>
              <a:rPr b="0" lang="sr-Latn-RS" sz="1000"/>
              <a:t>. Funkcija </a:t>
            </a:r>
            <a:r>
              <a:rPr b="0" lang="sr-Latn-RS" sz="1000">
                <a:latin typeface="Consolas"/>
                <a:ea typeface="Consolas"/>
                <a:cs typeface="Consolas"/>
                <a:sym typeface="Consolas"/>
              </a:rPr>
              <a:t>displayRecipes</a:t>
            </a:r>
            <a:r>
              <a:rPr b="0" lang="sr-Latn-RS" sz="1000"/>
              <a:t> kreira kartice za svaki recept sa slikom, nazivom, sastojcima i uputstvom, kao i dugmad za ažuriranje ili brisanje. Ovaj pristup omogućava interaktivnu i preglednu stranicu gde korisnik može lako upravljati svojim receptima.</a:t>
            </a:r>
            <a:endParaRPr/>
          </a:p>
        </p:txBody>
      </p:sp>
      <p:pic>
        <p:nvPicPr>
          <p:cNvPr descr="Slika na kojoj se nalazi tekst, snimak ekrana&#10;&#10;Sadržaj generisan AI-jem može biti netačan." id="151" name="Google Shape;151;p11"/>
          <p:cNvPicPr preferRelativeResize="0"/>
          <p:nvPr/>
        </p:nvPicPr>
        <p:blipFill rotWithShape="1">
          <a:blip r:embed="rId3">
            <a:alphaModFix/>
          </a:blip>
          <a:srcRect b="0" l="0" r="0" t="0"/>
          <a:stretch/>
        </p:blipFill>
        <p:spPr>
          <a:xfrm>
            <a:off x="447136" y="1173891"/>
            <a:ext cx="2758694" cy="2903840"/>
          </a:xfrm>
          <a:prstGeom prst="rect">
            <a:avLst/>
          </a:prstGeom>
          <a:noFill/>
          <a:ln>
            <a:noFill/>
          </a:ln>
        </p:spPr>
      </p:pic>
      <p:pic>
        <p:nvPicPr>
          <p:cNvPr descr="Slika na kojoj se nalazi tekst, snimak ekrana&#10;&#10;Sadržaj generisan AI-jem može biti netačan." id="152" name="Google Shape;152;p11"/>
          <p:cNvPicPr preferRelativeResize="0"/>
          <p:nvPr/>
        </p:nvPicPr>
        <p:blipFill rotWithShape="1">
          <a:blip r:embed="rId4">
            <a:alphaModFix/>
          </a:blip>
          <a:srcRect b="0" l="0" r="0" t="0"/>
          <a:stretch/>
        </p:blipFill>
        <p:spPr>
          <a:xfrm>
            <a:off x="3328798" y="1173891"/>
            <a:ext cx="2949783" cy="2903840"/>
          </a:xfrm>
          <a:prstGeom prst="rect">
            <a:avLst/>
          </a:prstGeom>
          <a:noFill/>
          <a:ln>
            <a:noFill/>
          </a:ln>
        </p:spPr>
      </p:pic>
      <p:pic>
        <p:nvPicPr>
          <p:cNvPr descr="Slika na kojoj se nalazi tekst, snimak ekrana, ekran, softver&#10;&#10;Sadržaj generisan AI-jem može biti netačan." id="153" name="Google Shape;153;p11"/>
          <p:cNvPicPr preferRelativeResize="0"/>
          <p:nvPr/>
        </p:nvPicPr>
        <p:blipFill rotWithShape="1">
          <a:blip r:embed="rId5">
            <a:alphaModFix/>
          </a:blip>
          <a:srcRect b="0" l="0" r="0" t="0"/>
          <a:stretch/>
        </p:blipFill>
        <p:spPr>
          <a:xfrm>
            <a:off x="6400930" y="1171318"/>
            <a:ext cx="2412398" cy="2916710"/>
          </a:xfrm>
          <a:prstGeom prst="rect">
            <a:avLst/>
          </a:prstGeom>
          <a:noFill/>
          <a:ln>
            <a:noFill/>
          </a:ln>
        </p:spPr>
      </p:pic>
    </p:spTree>
  </p:cSld>
  <p:clrMapOvr>
    <a:masterClrMapping/>
  </p:clrMapOvr>
  <p:transition p14:dur="100">
    <p:c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2"/>
          <p:cNvSpPr txBox="1"/>
          <p:nvPr/>
        </p:nvSpPr>
        <p:spPr>
          <a:xfrm>
            <a:off x="941154" y="2282331"/>
            <a:ext cx="7265576"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sr-Latn-RS" sz="3200" u="none" cap="none" strike="noStrike">
                <a:solidFill>
                  <a:srgbClr val="000000"/>
                </a:solidFill>
                <a:latin typeface="Arial"/>
                <a:ea typeface="Arial"/>
                <a:cs typeface="Arial"/>
                <a:sym typeface="Arial"/>
              </a:rPr>
              <a:t>Prezentovanje aplikacije</a:t>
            </a:r>
            <a:endParaRPr b="1"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3"/>
          <p:cNvSpPr txBox="1"/>
          <p:nvPr>
            <p:ph type="title"/>
          </p:nvPr>
        </p:nvSpPr>
        <p:spPr>
          <a:xfrm>
            <a:off x="323528" y="205979"/>
            <a:ext cx="6840760" cy="8572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sr-Latn-RS"/>
              <a:t>Zaključak</a:t>
            </a:r>
            <a:endParaRPr/>
          </a:p>
        </p:txBody>
      </p:sp>
      <p:sp>
        <p:nvSpPr>
          <p:cNvPr id="164" name="Google Shape;164;p13"/>
          <p:cNvSpPr txBox="1"/>
          <p:nvPr>
            <p:ph idx="1" type="body"/>
          </p:nvPr>
        </p:nvSpPr>
        <p:spPr>
          <a:xfrm>
            <a:off x="323528" y="1200150"/>
            <a:ext cx="8568952" cy="3603847"/>
          </a:xfrm>
          <a:prstGeom prst="rect">
            <a:avLst/>
          </a:prstGeom>
          <a:noFill/>
          <a:ln>
            <a:noFill/>
          </a:ln>
        </p:spPr>
        <p:txBody>
          <a:bodyPr anchorCtr="0" anchor="t" bIns="45700" lIns="91425" spcFirstLastPara="1" rIns="91425" wrap="square" tIns="45700">
            <a:normAutofit fontScale="92500" lnSpcReduction="20000"/>
          </a:bodyPr>
          <a:lstStyle/>
          <a:p>
            <a:pPr indent="0" lvl="0" marL="114300" rtl="0" algn="l">
              <a:lnSpc>
                <a:spcPct val="100000"/>
              </a:lnSpc>
              <a:spcBef>
                <a:spcPts val="360"/>
              </a:spcBef>
              <a:spcAft>
                <a:spcPts val="0"/>
              </a:spcAft>
              <a:buSzPct val="60810"/>
              <a:buNone/>
            </a:pPr>
            <a:r>
              <a:rPr lang="sr-Latn-RS"/>
              <a:t>Svrha aplikacije je da korisnicima omogući jednostavno i pregledno dodavanje i upravljanje receptima, kao i mogućnost da na jednom mestu imaju sve svoje kulinarske ideje. Aplikacija je osmišljena da pruži intuitivno iskustvo, jednostavnu navigaciju i osnovne funkcionalnosti potrebne za svakodnevnu upotrebu. Ipak, jednako je važno njeno dalje održavanje i unapređenje kako bi ostala aktuelna i privlačna korisnicima.</a:t>
            </a:r>
            <a:endParaRPr/>
          </a:p>
        </p:txBody>
      </p:sp>
    </p:spTree>
  </p:cSld>
  <p:clrMapOvr>
    <a:masterClrMapping/>
  </p:clrMapOvr>
  <p:transition spd="slow">
    <p:wipe dir="l"/>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4"/>
          <p:cNvSpPr txBox="1"/>
          <p:nvPr>
            <p:ph idx="1" type="body"/>
          </p:nvPr>
        </p:nvSpPr>
        <p:spPr>
          <a:xfrm>
            <a:off x="323528" y="505083"/>
            <a:ext cx="8568952" cy="4298914"/>
          </a:xfrm>
          <a:prstGeom prst="rect">
            <a:avLst/>
          </a:prstGeom>
          <a:noFill/>
          <a:ln>
            <a:noFill/>
          </a:ln>
        </p:spPr>
        <p:txBody>
          <a:bodyPr anchorCtr="0" anchor="t" bIns="45700" lIns="91425" spcFirstLastPara="1" rIns="91425" wrap="square" tIns="45700">
            <a:normAutofit/>
          </a:bodyPr>
          <a:lstStyle/>
          <a:p>
            <a:pPr indent="0" lvl="0" marL="114300" rtl="0" algn="l">
              <a:lnSpc>
                <a:spcPct val="100000"/>
              </a:lnSpc>
              <a:spcBef>
                <a:spcPts val="360"/>
              </a:spcBef>
              <a:spcAft>
                <a:spcPts val="0"/>
              </a:spcAft>
              <a:buSzPts val="1800"/>
              <a:buNone/>
            </a:pPr>
            <a:r>
              <a:rPr b="1" lang="sr-Latn-RS"/>
              <a:t>Moguća buduća poboljšanja:</a:t>
            </a:r>
            <a:br>
              <a:rPr b="1" lang="sr-Latn-RS"/>
            </a:br>
            <a:r>
              <a:rPr b="1" lang="sr-Latn-RS"/>
              <a:t> </a:t>
            </a:r>
            <a:r>
              <a:rPr lang="sr-Latn-RS" sz="2400"/>
              <a:t>•</a:t>
            </a:r>
            <a:r>
              <a:rPr b="1" lang="sr-Latn-RS"/>
              <a:t> </a:t>
            </a:r>
            <a:r>
              <a:rPr lang="sr-Latn-RS" sz="2400"/>
              <a:t>Dodavanje opcije sortiranja recepata po datumu ili autoru</a:t>
            </a:r>
            <a:br>
              <a:rPr lang="sr-Latn-RS" sz="2400"/>
            </a:br>
            <a:r>
              <a:rPr lang="sr-Latn-RS" sz="2400"/>
              <a:t> • Omogućavanje dodavanja komentara i ocena za recepte</a:t>
            </a:r>
            <a:br>
              <a:rPr lang="sr-Latn-RS" sz="2400"/>
            </a:br>
            <a:r>
              <a:rPr lang="sr-Latn-RS" sz="2400"/>
              <a:t> • Implementacija napredne pretrage i filtera po sastojcima</a:t>
            </a:r>
            <a:br>
              <a:rPr lang="sr-Latn-RS" sz="2400"/>
            </a:br>
            <a:r>
              <a:rPr lang="sr-Latn-RS" sz="2400"/>
              <a:t> • Uvođenje mogućnosti dodavanja slike direktnim upload-om, a ne samo putem putanje</a:t>
            </a:r>
            <a:br>
              <a:rPr lang="sr-Latn-RS" sz="2400"/>
            </a:br>
            <a:r>
              <a:rPr lang="sr-Latn-RS" sz="2400"/>
              <a:t> • Statistika – broj recepata po korisniku, najpopularniji recepti i sl.</a:t>
            </a:r>
            <a:br>
              <a:rPr lang="sr-Latn-RS" sz="2400"/>
            </a:br>
            <a:r>
              <a:rPr lang="sr-Latn-RS" sz="2400"/>
              <a:t> </a:t>
            </a:r>
            <a:endParaRPr/>
          </a:p>
        </p:txBody>
      </p:sp>
    </p:spTree>
  </p:cSld>
  <p:clrMapOvr>
    <a:masterClrMapping/>
  </p:clrMapOvr>
  <p:transition spd="slow">
    <p:wipe dir="l"/>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3" name="Shape 173"/>
        <p:cNvGrpSpPr/>
        <p:nvPr/>
      </p:nvGrpSpPr>
      <p:grpSpPr>
        <a:xfrm>
          <a:off x="0" y="0"/>
          <a:ext cx="0" cy="0"/>
          <a:chOff x="0" y="0"/>
          <a:chExt cx="0" cy="0"/>
        </a:xfrm>
      </p:grpSpPr>
      <p:sp>
        <p:nvSpPr>
          <p:cNvPr id="174" name="Google Shape;174;p15"/>
          <p:cNvSpPr txBox="1"/>
          <p:nvPr>
            <p:ph type="ctrTitle"/>
          </p:nvPr>
        </p:nvSpPr>
        <p:spPr>
          <a:xfrm>
            <a:off x="1061116" y="1903229"/>
            <a:ext cx="7344816" cy="73493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600"/>
              <a:buNone/>
            </a:pPr>
            <a:r>
              <a:rPr lang="sr-Latn-RS" sz="2400"/>
              <a:t>Razvoj Web aplikacije za kulinarskog</a:t>
            </a:r>
            <a:endParaRPr sz="2400"/>
          </a:p>
          <a:p>
            <a:pPr indent="0" lvl="0" marL="0" rtl="0" algn="ctr">
              <a:lnSpc>
                <a:spcPct val="100000"/>
              </a:lnSpc>
              <a:spcBef>
                <a:spcPts val="0"/>
              </a:spcBef>
              <a:spcAft>
                <a:spcPts val="0"/>
              </a:spcAft>
              <a:buSzPts val="3600"/>
              <a:buNone/>
            </a:pPr>
            <a:r>
              <a:rPr lang="sr-Latn-RS" sz="2400"/>
              <a:t>asistenta primenom Core PHP skript jezika</a:t>
            </a:r>
            <a:endParaRPr sz="2400"/>
          </a:p>
        </p:txBody>
      </p:sp>
      <p:sp>
        <p:nvSpPr>
          <p:cNvPr id="175" name="Google Shape;175;p15"/>
          <p:cNvSpPr txBox="1"/>
          <p:nvPr>
            <p:ph idx="1" type="subTitle"/>
          </p:nvPr>
        </p:nvSpPr>
        <p:spPr>
          <a:xfrm>
            <a:off x="922103" y="1356154"/>
            <a:ext cx="7291536" cy="342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2000"/>
              <a:buNone/>
            </a:pPr>
            <a:r>
              <a:rPr b="1" lang="sr-Latn-RS" sz="1800"/>
              <a:t>Završni rad</a:t>
            </a:r>
            <a:endParaRPr b="1" sz="1800"/>
          </a:p>
        </p:txBody>
      </p:sp>
      <p:sp>
        <p:nvSpPr>
          <p:cNvPr id="176" name="Google Shape;176;p15"/>
          <p:cNvSpPr txBox="1"/>
          <p:nvPr/>
        </p:nvSpPr>
        <p:spPr>
          <a:xfrm>
            <a:off x="425567" y="3662078"/>
            <a:ext cx="2701589"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sr-Latn-RS" sz="1400" u="none" cap="none" strike="noStrike">
                <a:solidFill>
                  <a:srgbClr val="000000"/>
                </a:solidFill>
                <a:latin typeface="Arial"/>
                <a:ea typeface="Arial"/>
                <a:cs typeface="Arial"/>
                <a:sym typeface="Arial"/>
              </a:rPr>
              <a:t>Mentor:</a:t>
            </a:r>
            <a:endParaRPr/>
          </a:p>
          <a:p>
            <a:pPr indent="0" lvl="0" marL="0" marR="0" rtl="0" algn="l">
              <a:lnSpc>
                <a:spcPct val="100000"/>
              </a:lnSpc>
              <a:spcBef>
                <a:spcPts val="0"/>
              </a:spcBef>
              <a:spcAft>
                <a:spcPts val="0"/>
              </a:spcAft>
              <a:buNone/>
            </a:pPr>
            <a:r>
              <a:rPr b="0" i="0" lang="sr-Latn-RS" sz="1400" u="none" cap="none" strike="noStrike">
                <a:solidFill>
                  <a:srgbClr val="000000"/>
                </a:solidFill>
                <a:latin typeface="Arial"/>
                <a:ea typeface="Arial"/>
                <a:cs typeface="Arial"/>
                <a:sym typeface="Arial"/>
              </a:rPr>
              <a:t>dr Aleksandar Simović</a:t>
            </a:r>
            <a:endParaRPr/>
          </a:p>
          <a:p>
            <a:pPr indent="0" lvl="0" marL="0" marR="0" rtl="0" algn="l">
              <a:lnSpc>
                <a:spcPct val="100000"/>
              </a:lnSpc>
              <a:spcBef>
                <a:spcPts val="0"/>
              </a:spcBef>
              <a:spcAft>
                <a:spcPts val="0"/>
              </a:spcAft>
              <a:buNone/>
            </a:pPr>
            <a:r>
              <a:rPr b="0" i="0" lang="sr-Latn-RS" sz="1400" u="none" cap="none" strike="noStrike">
                <a:solidFill>
                  <a:srgbClr val="000000"/>
                </a:solidFill>
                <a:latin typeface="Arial"/>
                <a:ea typeface="Arial"/>
                <a:cs typeface="Arial"/>
                <a:sym typeface="Arial"/>
              </a:rPr>
              <a:t>profesor strukovnih studija</a:t>
            </a:r>
            <a:endParaRPr/>
          </a:p>
        </p:txBody>
      </p:sp>
      <p:sp>
        <p:nvSpPr>
          <p:cNvPr id="177" name="Google Shape;177;p15"/>
          <p:cNvSpPr txBox="1"/>
          <p:nvPr/>
        </p:nvSpPr>
        <p:spPr>
          <a:xfrm>
            <a:off x="6812942" y="3664384"/>
            <a:ext cx="19654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sr-Latn-RS" sz="1400" u="none" cap="none" strike="noStrike">
                <a:solidFill>
                  <a:srgbClr val="000000"/>
                </a:solidFill>
                <a:latin typeface="Arial"/>
                <a:ea typeface="Arial"/>
                <a:cs typeface="Arial"/>
                <a:sym typeface="Arial"/>
              </a:rPr>
              <a:t>Student:</a:t>
            </a:r>
            <a:endParaRPr/>
          </a:p>
          <a:p>
            <a:pPr indent="0" lvl="0" marL="0" marR="0" rtl="0" algn="l">
              <a:lnSpc>
                <a:spcPct val="100000"/>
              </a:lnSpc>
              <a:spcBef>
                <a:spcPts val="0"/>
              </a:spcBef>
              <a:spcAft>
                <a:spcPts val="0"/>
              </a:spcAft>
              <a:buNone/>
            </a:pPr>
            <a:r>
              <a:rPr b="0" i="0" lang="sr-Latn-RS" sz="1400" u="none" cap="none" strike="noStrike">
                <a:solidFill>
                  <a:srgbClr val="000000"/>
                </a:solidFill>
                <a:latin typeface="Arial"/>
                <a:ea typeface="Arial"/>
                <a:cs typeface="Arial"/>
                <a:sym typeface="Arial"/>
              </a:rPr>
              <a:t>Ignjat Milatović 257/22</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TS 16-9">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